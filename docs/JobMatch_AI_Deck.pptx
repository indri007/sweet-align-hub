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JobMatch AI: platform all-in-one dari upload CV sampai siap wawancara. Kelompok 1, capstone AI &amp;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inti: mayoritas CV difilter mesin ATS sebelum dilihat HRD. Kondisi saat ini serba manual dan menebak-nebak.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Solusi: satu platform, lima modul yang saling terhubung dalam satu alur wizard.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kerja end-to-end bergaya board Miro. Input CV mengalir lewat lima langkah; integrasi N8N dengan fallback lokal.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Kerangka PRD: masalah, kondisi saat ini, output yang diinginkan, lalu tujuan &amp; metrik sukses.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persona utama: fresh graduate, career switcher, active job seeker.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story per modul dalam format As a / I want / so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vs non-functional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multi-agent berlapis: presentation, agents, AI/ML, data,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komponen: UI controller memanggil lima agent; tiap agent bergantung ke service AI/ML dan penyimpanan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nyata repository jobsearchapp: folder agents, n8n_workflows, dataset, dan modul inti.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workflow N8N yang menjalankan logika AI, dipanggil dari n8n_client.py dengan fallback lokal.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Skema data: sesi pengguna, dokumen CV, katalog lowongan, embedding vektor, hasil match, sesi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deployment: klien → Cloud Run (Streamlit) → service eksternal Qdrant, Aiven MySQL, OpenAI,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keamanan berlapis: transport, secrets, autentikasi, privasi data, ketahanan.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Skalabilitas dan performa: stateless autoscale, ANN cepat, target SLO.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Analisis SWOT: kekuatan, kelemahan, peluang, dan ancaman produk JobMatch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Canvas: sembilan blok model bisnis JobMatch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jalan pengembangan kecerdasan buatan JobMatch AI, dari sekarang hingga visi jangka panjang.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AI ke depan dan penutup. Terima kasih dari Kelompok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60000">
                <a:srgbClr val="EEF4FE">
                  <a:alpha val="100000"/>
                </a:srgbClr>
              </a:gs>
              <a:gs pos="100000">
                <a:srgbClr val="E8F0FE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048750" y="-1143000"/>
            <a:ext cx="4000500" cy="4000500"/>
          </a:xfrm>
          <a:prstGeom prst="ellipse">
            <a:avLst/>
          </a:prstGeom>
          <a:gradFill rotWithShape="1">
            <a:gsLst>
              <a:gs pos="0">
                <a:srgbClr val="1A73E8">
                  <a:alpha val="16000"/>
                </a:srgbClr>
              </a:gs>
              <a:gs pos="68000">
                <a:srgbClr val="1A73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762000" y="685800"/>
            <a:ext cx="4709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PROJECT · AI &amp; MACHINE LEARNING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0843468" y="685800"/>
            <a:ext cx="6627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62000" y="1318692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13186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04925" y="1418704"/>
            <a:ext cx="11808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</a:t>
            </a:r>
            <a:pPr algn="l" indent="0" marL="0">
              <a:buNone/>
            </a:pPr>
            <a:r>
              <a:rPr lang="en-US" sz="1425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762000" y="1947342"/>
            <a:ext cx="9025890" cy="2039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97"/>
              </a:lnSpc>
              <a:buNone/>
            </a:pPr>
            <a:r>
              <a:rPr lang="en-US" sz="5100" b="1" spc="-153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All-in-One Penyelaras Karir &amp; Optimasi CV Berbasis AI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762000" y="4158258"/>
            <a:ext cx="745617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</a:t>
            </a:r>
            <a:pPr algn="l" indent="0" marL="0">
              <a:lnSpc>
                <a:spcPct val="123529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CV </a:t>
            </a:r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sampai </a:t>
            </a:r>
            <a:pPr algn="l" indent="0" marL="0">
              <a:lnSpc>
                <a:spcPct val="123529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siap interview </a:t>
            </a:r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satu alur </a:t>
            </a:r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wizard </a:t>
            </a:r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ditenagai arsitektur </a:t>
            </a:r>
            <a:pPr algn="l" indent="0" marL="0">
              <a:lnSpc>
                <a:spcPct val="123529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AI</a:t>
            </a:r>
            <a:pPr algn="l" indent="0" marL="0">
              <a:lnSpc>
                <a:spcPct val="123529"/>
              </a:lnSpc>
              <a:buNone/>
            </a:pPr>
            <a:r>
              <a:rPr lang="en-US" sz="15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762000" y="5010745"/>
            <a:ext cx="1802755" cy="29527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904875" y="5077420"/>
            <a:ext cx="15932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Job Matching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60005" y="5010745"/>
            <a:ext cx="1042690" cy="2952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2802880" y="5077420"/>
            <a:ext cx="83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Review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7945" y="5010745"/>
            <a:ext cx="1444823" cy="295275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3940820" y="5077420"/>
            <a:ext cx="12352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Mock Interview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2000" y="5767388"/>
            <a:ext cx="106680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986463"/>
            <a:ext cx="472772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Kelompok 1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Ivan Dwi Hascaryo Ardynugraha · Indri · Nabel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03087" y="6010275"/>
            <a:ext cx="50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LATAR BELAKANG · THE PROBLEM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859155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ditolak robot sebelum sampai ke HRD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09600" y="2865834"/>
            <a:ext cx="52429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474"/>
              </a:lnSpc>
              <a:buNone/>
            </a:pPr>
            <a:r>
              <a:rPr lang="en-US" sz="9000" b="1" spc="-36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09600" y="4142184"/>
            <a:ext cx="4909284" cy="8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tidak pernah dibaca manusia — tersaring lebih dulu oleh </a:t>
            </a:r>
            <a:pPr algn="l" indent="0" marL="0">
              <a:lnSpc>
                <a:spcPct val="128043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Applicant Tracking System (ATS) 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karena format salah, keyword kurang, atau struktur berantakan.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5756895" y="2819846"/>
            <a:ext cx="2836515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56920" y="3019871"/>
            <a:ext cx="26801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tidak ATS-friendly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956920" y="3248471"/>
            <a:ext cx="25126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Tabel, kolom, grafik yang gagal di-parse mesin.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45810" y="2819846"/>
            <a:ext cx="283659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45835" y="3019871"/>
            <a:ext cx="26801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tidak match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945835" y="3248471"/>
            <a:ext cx="2512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selaras dengan job description role incaran.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56895" y="4000946"/>
            <a:ext cx="2836515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56920" y="4200971"/>
            <a:ext cx="26801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Buta terhadap fit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956920" y="4429571"/>
            <a:ext cx="25126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Pelamar tak tahu seberapa cocok dengan lowongan.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45810" y="4000946"/>
            <a:ext cx="283659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45835" y="4200971"/>
            <a:ext cx="26801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siap interview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945835" y="4429571"/>
            <a:ext cx="2512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 latihan &amp; feedback sebelum wawancara nyata.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571113" y="6374606"/>
            <a:ext cx="108748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20 · Problem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 · ONE PLATFORM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Lima modul, satu alur yang mulus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09600" y="1315343"/>
            <a:ext cx="824103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Semua kebutuhan job seeker dalam satu 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wizard </a:t>
            </a:r>
            <a:pPr algn="l" indent="0" marL="0">
              <a:lnSpc>
                <a:spcPct val="128043"/>
              </a:lnSpc>
              <a:buNone/>
            </a:pPr>
            <a:r>
              <a:rPr lang="en-US" sz="14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langkah — data mengalir otomatis antar modul.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609600" y="3493219"/>
            <a:ext cx="2072580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575" y="3712294"/>
            <a:ext cx="430188" cy="29527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933450" y="3778969"/>
            <a:ext cx="2206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0575" y="4121869"/>
            <a:ext cx="18816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CV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90575" y="4431432"/>
            <a:ext cx="1786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Parsing PDF/gambar jadi teks terstruktur.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2834580" y="3493219"/>
            <a:ext cx="2072655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5555" y="3712294"/>
            <a:ext cx="456828" cy="2952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158430" y="3778969"/>
            <a:ext cx="2472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5555" y="4121869"/>
            <a:ext cx="18817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Matching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015555" y="4431432"/>
            <a:ext cx="17869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 ke 473 lowongan via vector.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5059635" y="3493219"/>
            <a:ext cx="2072655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40610" y="3712294"/>
            <a:ext cx="458614" cy="295275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17" name="Text 15"/>
          <p:cNvSpPr/>
          <p:nvPr/>
        </p:nvSpPr>
        <p:spPr>
          <a:xfrm>
            <a:off x="5383485" y="3778969"/>
            <a:ext cx="2490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40610" y="4121869"/>
            <a:ext cx="18817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Review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5240610" y="4431432"/>
            <a:ext cx="17869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Skor kompatibilitas + rekomendasi perbaikan.</a:t>
            </a:r>
            <a:endParaRPr lang="en-US" sz="1013" dirty="0"/>
          </a:p>
        </p:txBody>
      </p:sp>
      <p:sp>
        <p:nvSpPr>
          <p:cNvPr id="20" name="Shape 18"/>
          <p:cNvSpPr/>
          <p:nvPr/>
        </p:nvSpPr>
        <p:spPr>
          <a:xfrm>
            <a:off x="7284690" y="3493219"/>
            <a:ext cx="2072655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5665" y="3712294"/>
            <a:ext cx="462632" cy="295275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08540" y="3778969"/>
            <a:ext cx="2530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65665" y="4121869"/>
            <a:ext cx="18817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Consultant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7465665" y="4431432"/>
            <a:ext cx="17869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AI untuk strategi &amp; skill-gap.</a:t>
            </a:r>
            <a:endParaRPr lang="en-US" sz="1013" dirty="0"/>
          </a:p>
        </p:txBody>
      </p:sp>
      <p:sp>
        <p:nvSpPr>
          <p:cNvPr id="25" name="Shape 23"/>
          <p:cNvSpPr/>
          <p:nvPr/>
        </p:nvSpPr>
        <p:spPr>
          <a:xfrm>
            <a:off x="9509745" y="3493219"/>
            <a:ext cx="2072655" cy="154305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90720" y="3712294"/>
            <a:ext cx="455414" cy="295275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9833595" y="3778969"/>
            <a:ext cx="2458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90720" y="4121869"/>
            <a:ext cx="18817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Interview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690720" y="4431432"/>
            <a:ext cx="178690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Simulasi suara real-time + feedback.</a:t>
            </a:r>
            <a:endParaRPr lang="en-US" sz="1013" dirty="0"/>
          </a:p>
        </p:txBody>
      </p:sp>
      <p:sp>
        <p:nvSpPr>
          <p:cNvPr id="30" name="Shape 28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0579745" y="6374606"/>
            <a:ext cx="10788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20 · Solution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ALUR KERJA · WORKFLOW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user &amp; data flow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428625" y="2822228"/>
            <a:ext cx="2236440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8625" y="3698528"/>
            <a:ext cx="223644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" name="Shape 4"/>
          <p:cNvSpPr/>
          <p:nvPr/>
        </p:nvSpPr>
        <p:spPr>
          <a:xfrm>
            <a:off x="428625" y="2822228"/>
            <a:ext cx="2236440" cy="2857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Shape 5"/>
          <p:cNvSpPr/>
          <p:nvPr/>
        </p:nvSpPr>
        <p:spPr>
          <a:xfrm>
            <a:off x="428625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8" name="Shape 6"/>
          <p:cNvSpPr/>
          <p:nvPr/>
        </p:nvSpPr>
        <p:spPr>
          <a:xfrm>
            <a:off x="2655540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Text 7"/>
          <p:cNvSpPr/>
          <p:nvPr/>
        </p:nvSpPr>
        <p:spPr>
          <a:xfrm>
            <a:off x="473965" y="3003203"/>
            <a:ext cx="21457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UPLOAD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3965" y="3207990"/>
            <a:ext cx="2145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PDF / Foto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965" y="3408015"/>
            <a:ext cx="21457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→ teks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9340" y="3136553"/>
            <a:ext cx="2419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703165" y="2822228"/>
            <a:ext cx="2236515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03165" y="3698528"/>
            <a:ext cx="223651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5" name="Shape 13"/>
          <p:cNvSpPr/>
          <p:nvPr/>
        </p:nvSpPr>
        <p:spPr>
          <a:xfrm>
            <a:off x="2703165" y="2822228"/>
            <a:ext cx="223651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03165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0155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8502" y="3003203"/>
            <a:ext cx="21458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MATCH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748502" y="3207990"/>
            <a:ext cx="21458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+ ANN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8502" y="3408015"/>
            <a:ext cx="214584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top-k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53955" y="3136553"/>
            <a:ext cx="2419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977780" y="2822228"/>
            <a:ext cx="2236440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77780" y="3698528"/>
            <a:ext cx="223644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977780" y="2822228"/>
            <a:ext cx="2236440" cy="2857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Shape 23"/>
          <p:cNvSpPr/>
          <p:nvPr/>
        </p:nvSpPr>
        <p:spPr>
          <a:xfrm>
            <a:off x="4977780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204695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3120" y="3003203"/>
            <a:ext cx="21457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ATS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023120" y="3207990"/>
            <a:ext cx="2145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Skor + saran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3120" y="3408015"/>
            <a:ext cx="21457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28495" y="3136553"/>
            <a:ext cx="2419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252320" y="2822228"/>
            <a:ext cx="2236515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52320" y="3698528"/>
            <a:ext cx="223651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3" name="Shape 31"/>
          <p:cNvSpPr/>
          <p:nvPr/>
        </p:nvSpPr>
        <p:spPr>
          <a:xfrm>
            <a:off x="7252320" y="2822228"/>
            <a:ext cx="2236515" cy="2857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4" name="Shape 32"/>
          <p:cNvSpPr/>
          <p:nvPr/>
        </p:nvSpPr>
        <p:spPr>
          <a:xfrm>
            <a:off x="7252320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9479310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6" name="Text 34"/>
          <p:cNvSpPr/>
          <p:nvPr/>
        </p:nvSpPr>
        <p:spPr>
          <a:xfrm>
            <a:off x="7297657" y="3003203"/>
            <a:ext cx="21458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CONSULT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7297657" y="3207990"/>
            <a:ext cx="21458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karir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97657" y="3408015"/>
            <a:ext cx="214584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konteks CV+job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403110" y="3136553"/>
            <a:ext cx="2419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526935" y="2822228"/>
            <a:ext cx="2236440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526935" y="3698528"/>
            <a:ext cx="223644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9526935" y="2822228"/>
            <a:ext cx="2236440" cy="2857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6935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753850" y="2822228"/>
            <a:ext cx="9525" cy="8858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5" name="Text 43"/>
          <p:cNvSpPr/>
          <p:nvPr/>
        </p:nvSpPr>
        <p:spPr>
          <a:xfrm>
            <a:off x="9572275" y="3003203"/>
            <a:ext cx="21457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INTERVIEW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572275" y="3207990"/>
            <a:ext cx="21457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mock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72275" y="3408015"/>
            <a:ext cx="21457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STT→LLM→TTS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11114" y="3955703"/>
            <a:ext cx="8169771" cy="528638"/>
          </a:xfrm>
          <a:prstGeom prst="roundRect">
            <a:avLst>
              <a:gd name="adj" fmla="val 252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230189" y="4098578"/>
            <a:ext cx="1168747" cy="24288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50" name="Text 48"/>
          <p:cNvSpPr/>
          <p:nvPr/>
        </p:nvSpPr>
        <p:spPr>
          <a:xfrm>
            <a:off x="2344489" y="4146203"/>
            <a:ext cx="1016347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3532287" y="4134296"/>
            <a:ext cx="25466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Cloud webhook 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orkestrasi AI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5980733" y="4112865"/>
            <a:ext cx="5150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┈┈▶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52977" y="4139059"/>
            <a:ext cx="37497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fallback: </a:t>
            </a:r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Client langsung 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webhook down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9050" y="4731990"/>
            <a:ext cx="12153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bersama antar langkah disimpan di </a:t>
            </a:r>
            <a:pPr algn="ctr" indent="0" marL="0">
              <a:buNone/>
            </a:pPr>
            <a:r>
              <a:rPr lang="en-US" sz="975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st.session_state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57" name="Text 55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0495359" y="6374606"/>
            <a:ext cx="11632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20 · Workflow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· GOALS &amp; OBJECTIVES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Masalah, kondisi, dan output yang dituju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1486793"/>
            <a:ext cx="3555950" cy="1323082"/>
          </a:xfrm>
          <a:prstGeom prst="roundRect">
            <a:avLst>
              <a:gd name="adj" fmla="val 1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800350"/>
            <a:ext cx="355595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86793"/>
            <a:ext cx="355595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86793"/>
            <a:ext cx="38100" cy="132308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Shape 6"/>
          <p:cNvSpPr/>
          <p:nvPr/>
        </p:nvSpPr>
        <p:spPr>
          <a:xfrm>
            <a:off x="4156025" y="1486793"/>
            <a:ext cx="9525" cy="1323082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1705868"/>
            <a:ext cx="33981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57250" y="1948755"/>
            <a:ext cx="3181902" cy="68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seeker gagal lolos ATS &amp; tidak tahu penyebabnya; proses melamar manual, lambat, dan menebak-nebak.</a:t>
            </a:r>
            <a:endParaRPr lang="en-US" sz="1088" dirty="0"/>
          </a:p>
        </p:txBody>
      </p:sp>
      <p:sp>
        <p:nvSpPr>
          <p:cNvPr id="11" name="Shape 9"/>
          <p:cNvSpPr/>
          <p:nvPr/>
        </p:nvSpPr>
        <p:spPr>
          <a:xfrm>
            <a:off x="4317950" y="1486793"/>
            <a:ext cx="3556025" cy="1323082"/>
          </a:xfrm>
          <a:prstGeom prst="roundRect">
            <a:avLst>
              <a:gd name="adj" fmla="val 1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7950" y="2800350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7950" y="1486793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7950" y="1486793"/>
            <a:ext cx="38100" cy="132308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4450" y="1486793"/>
            <a:ext cx="9525" cy="1323082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65600" y="1705868"/>
            <a:ext cx="33982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KONDISI SAAT INI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565600" y="1948755"/>
            <a:ext cx="3181979" cy="68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Cek ATS, matching, konsultasi, dan latihan interview tersebar di banyak tool terpisah — tidak terintegrasi.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026375" y="1486793"/>
            <a:ext cx="3556025" cy="1323082"/>
          </a:xfrm>
          <a:prstGeom prst="roundRect">
            <a:avLst>
              <a:gd name="adj" fmla="val 1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26375" y="2800350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026375" y="1486793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6375" y="1486793"/>
            <a:ext cx="38100" cy="132308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72875" y="1486793"/>
            <a:ext cx="9525" cy="1323082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Text 21"/>
          <p:cNvSpPr/>
          <p:nvPr/>
        </p:nvSpPr>
        <p:spPr>
          <a:xfrm>
            <a:off x="8274025" y="1705868"/>
            <a:ext cx="33982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DIINGINKAN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274025" y="1948755"/>
            <a:ext cx="3181979" cy="68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platform: skor ATS, rekomendasi, daftar lowongan match, dan simulasi interview dalam satu alur.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609600" y="3038475"/>
            <a:ext cx="6680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Tujuan produk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09600" y="3324225"/>
            <a:ext cx="25814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5842" y="3324225"/>
            <a:ext cx="398447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Menaikkan ATS pass-rate CV pengguna secara terukur.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609600" y="3605213"/>
            <a:ext cx="2880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5757" y="3605213"/>
            <a:ext cx="41275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Mempercepat pencocokan CV ↔ lowongan yang relevan.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609600" y="3886200"/>
            <a:ext cx="2909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8659" y="3886200"/>
            <a:ext cx="43626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Menyediakan latihan interview yang realistis &amp; ber-feedback.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609600" y="4167188"/>
            <a:ext cx="2958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3570" y="4167188"/>
            <a:ext cx="407951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Menyatukan seluruh alur dalam satu pengalaman wizard.</a:t>
            </a:r>
            <a:endParaRPr lang="en-US" sz="1088" dirty="0"/>
          </a:p>
        </p:txBody>
      </p:sp>
      <p:sp>
        <p:nvSpPr>
          <p:cNvPr id="34" name="Shape 32"/>
          <p:cNvSpPr/>
          <p:nvPr/>
        </p:nvSpPr>
        <p:spPr>
          <a:xfrm>
            <a:off x="6910983" y="3038475"/>
            <a:ext cx="4671343" cy="3286125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0058" y="3257550"/>
            <a:ext cx="46565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metrics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(target)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7130058" y="3543300"/>
            <a:ext cx="13799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Kenaikan ATS score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68508" y="3543300"/>
            <a:ext cx="8709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signifikan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130058" y="3819525"/>
            <a:ext cx="14667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Waktu ke hasil match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56478" y="3819525"/>
            <a:ext cx="68297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 menit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30058" y="4095750"/>
            <a:ext cx="136436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selesai / sesi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73668" y="4095750"/>
            <a:ext cx="665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3 dari 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0058" y="4371975"/>
            <a:ext cx="12051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practice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904339" y="4371975"/>
            <a:ext cx="5351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1 sesi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0441856" y="6374606"/>
            <a:ext cx="121674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20 · PRD Goals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· USER PERSONAS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Siapa yang kita layani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2653159"/>
            <a:ext cx="2087835" cy="24860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1525" y="2853184"/>
            <a:ext cx="419100" cy="41910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3425" y="28531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1525" y="3386584"/>
            <a:ext cx="19403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Mahasiswa Baru Lulus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71525" y="3558034"/>
            <a:ext cx="194038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Graduate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1525" y="3810446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71525" y="3972371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lolos screening &amp; dapat interview pertama.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71525" y="4431953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FRUSTRASI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71525" y="4593878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ada pengalaman, lamaran di-ghost.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2830785" y="2653159"/>
            <a:ext cx="2087910" cy="24860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2710" y="2853184"/>
            <a:ext cx="419100" cy="4191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2954610" y="28531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992710" y="3386584"/>
            <a:ext cx="1940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Karir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992710" y="3558034"/>
            <a:ext cx="19404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Switcher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92710" y="3810446"/>
            <a:ext cx="19404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992710" y="3972371"/>
            <a:ext cx="18402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Pindah ke bidang baru &amp; tahu skill gap.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2992710" y="4431953"/>
            <a:ext cx="19404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FRUSTRASI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992710" y="4593878"/>
            <a:ext cx="18402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Bingung role realistis dengan skill saat ini.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5052045" y="2653159"/>
            <a:ext cx="2087835" cy="24860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3970" y="2853184"/>
            <a:ext cx="419100" cy="419100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5175870" y="28531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💼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213970" y="3386584"/>
            <a:ext cx="19403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Korban PHK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213970" y="3558034"/>
            <a:ext cx="194038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Post-Layoff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3970" y="3810446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13970" y="3972371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Cepat kembali kerja di role yang cocok.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5213970" y="4431953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FRUSTRASI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213970" y="4593878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Waktu &amp; finansial terbatas, butuh hasil cepat.</a:t>
            </a:r>
            <a:endParaRPr lang="en-US" sz="938" dirty="0"/>
          </a:p>
        </p:txBody>
      </p:sp>
      <p:sp>
        <p:nvSpPr>
          <p:cNvPr id="31" name="Shape 29"/>
          <p:cNvSpPr/>
          <p:nvPr/>
        </p:nvSpPr>
        <p:spPr>
          <a:xfrm>
            <a:off x="7273230" y="2653159"/>
            <a:ext cx="2087910" cy="24860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35155" y="2853184"/>
            <a:ext cx="419100" cy="41910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97055" y="28531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🌏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435155" y="3386584"/>
            <a:ext cx="1940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Pencari Remote Job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435155" y="3558034"/>
            <a:ext cx="19404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Worker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35155" y="3810446"/>
            <a:ext cx="19404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435155" y="3972371"/>
            <a:ext cx="18402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Dapat kerja remote lintas kota/negara.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7435155" y="4431953"/>
            <a:ext cx="19404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FRUSTRASI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435155" y="4593878"/>
            <a:ext cx="18402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harus standout di kompetisi global.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9494490" y="2653159"/>
            <a:ext cx="2087835" cy="24860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56415" y="2853184"/>
            <a:ext cx="419100" cy="419100"/>
          </a:xfrm>
          <a:prstGeom prst="ellipse">
            <a:avLst/>
          </a:prstGeom>
          <a:solidFill>
            <a:srgbClr val="FDF2F8"/>
          </a:solidFill>
          <a:ln/>
        </p:spPr>
      </p:sp>
      <p:sp>
        <p:nvSpPr>
          <p:cNvPr id="42" name="Text 40"/>
          <p:cNvSpPr/>
          <p:nvPr/>
        </p:nvSpPr>
        <p:spPr>
          <a:xfrm>
            <a:off x="9618315" y="28531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656415" y="3386584"/>
            <a:ext cx="19403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Job / Freelance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9656415" y="3558034"/>
            <a:ext cx="194038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Hustler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56415" y="3810446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9656415" y="3972371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Cari pekerjaan sampingan yang fleksibel.</a:t>
            </a:r>
            <a:endParaRPr lang="en-US" sz="938" dirty="0"/>
          </a:p>
        </p:txBody>
      </p:sp>
      <p:sp>
        <p:nvSpPr>
          <p:cNvPr id="47" name="Text 45"/>
          <p:cNvSpPr/>
          <p:nvPr/>
        </p:nvSpPr>
        <p:spPr>
          <a:xfrm>
            <a:off x="9656415" y="4431953"/>
            <a:ext cx="19403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FRUSTRASI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9656415" y="4593878"/>
            <a:ext cx="184018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Susah pisahkan CV utama vs peran sampingan.</a:t>
            </a:r>
            <a:endParaRPr lang="en-US" sz="938" dirty="0"/>
          </a:p>
        </p:txBody>
      </p:sp>
      <p:sp>
        <p:nvSpPr>
          <p:cNvPr id="49" name="Shape 47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509349" y="6374606"/>
            <a:ext cx="114925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20 · Personas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· USER STORIES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Kebutuhan pengguna per modul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146774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42976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6774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67743"/>
            <a:ext cx="38100" cy="97155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Shape 6"/>
          <p:cNvSpPr/>
          <p:nvPr/>
        </p:nvSpPr>
        <p:spPr>
          <a:xfrm>
            <a:off x="6010275" y="146774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164871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US-1 · UPLOAD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838200" y="185826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pelamar,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CV dalam PDF/foto,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bisa membacanya otomatis tanpa ketik ulang.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6774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42976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46774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467743"/>
            <a:ext cx="38100" cy="971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72875" y="146774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871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US-2 · MATCH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6400800" y="185826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seeker,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daftar lowongan paling relevan dengan CV,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saya fokus melamar yang cocok.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600" y="259169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600" y="355371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259169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2591693"/>
            <a:ext cx="38100" cy="97155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10275" y="259169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" y="277266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US-3 · ATS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838200" y="298221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pelamar,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skor ATS + rekomendasi konkret,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saya bisa memperbaiki CV sebelum melamar.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59169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55371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259169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2591693"/>
            <a:ext cx="38100" cy="97155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72875" y="259169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77266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US-4 · CONSULT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6400800" y="298221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switcher,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konsultasi AI soal skill gap,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saya tahu langkah untuk naik level.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9600" y="371564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9600" y="467766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" y="371564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" y="3715643"/>
            <a:ext cx="38100" cy="97155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6" name="Shape 34"/>
          <p:cNvSpPr/>
          <p:nvPr/>
        </p:nvSpPr>
        <p:spPr>
          <a:xfrm>
            <a:off x="6010275" y="371564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7" name="Text 35"/>
          <p:cNvSpPr/>
          <p:nvPr/>
        </p:nvSpPr>
        <p:spPr>
          <a:xfrm>
            <a:off x="838200" y="389661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US-5 · INTERVIEW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838200" y="410616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kandidat,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interview suara + feedback,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saya percaya diri saat wawancara nyata.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715643"/>
            <a:ext cx="54102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4677668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1" name="Shape 39"/>
          <p:cNvSpPr/>
          <p:nvPr/>
        </p:nvSpPr>
        <p:spPr>
          <a:xfrm>
            <a:off x="6172200" y="3715643"/>
            <a:ext cx="54102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3715643"/>
            <a:ext cx="38100" cy="97155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Shape 41"/>
          <p:cNvSpPr/>
          <p:nvPr/>
        </p:nvSpPr>
        <p:spPr>
          <a:xfrm>
            <a:off x="11572875" y="3715643"/>
            <a:ext cx="9525" cy="97155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896618"/>
            <a:ext cx="5479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US-6 · SESSION</a:t>
            </a:r>
            <a:endParaRPr lang="en-US" sz="938" dirty="0"/>
          </a:p>
        </p:txBody>
      </p:sp>
      <p:sp>
        <p:nvSpPr>
          <p:cNvPr id="45" name="Text 43"/>
          <p:cNvSpPr/>
          <p:nvPr/>
        </p:nvSpPr>
        <p:spPr>
          <a:xfrm>
            <a:off x="6400800" y="4106168"/>
            <a:ext cx="51310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want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mengalir antar langkah, </a:t>
            </a:r>
            <a:pPr algn="l" indent="0" marL="0">
              <a:lnSpc>
                <a:spcPct val="123529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that </a:t>
            </a:r>
            <a:pPr algn="l" indent="0" marL="0">
              <a:lnSpc>
                <a:spcPct val="1235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saya tidak mengulang input di tiap modul.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48" name="Text 46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0343852" y="6374606"/>
            <a:ext cx="136240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20 · User Stories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· REQUIREMENTS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&amp; Non-functional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1467743"/>
            <a:ext cx="956816" cy="29527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752475" y="1534418"/>
            <a:ext cx="7472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89636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0125" y="1896368"/>
            <a:ext cx="33962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Parsing CV PDF/gambar menjadi teks terstruktur.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14401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0125" y="2144018"/>
            <a:ext cx="40275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CV &amp; semantic matching ke katalog lowongan.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239166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0125" y="2391668"/>
            <a:ext cx="2926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Skor ATS + daftar rekomendasi perbaikan.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263931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0125" y="2639318"/>
            <a:ext cx="36744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konsultan karir dengan konteks CV &amp; lowongan.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288696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0125" y="2886968"/>
            <a:ext cx="376117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interview suara: STT → LLM → TTS + feedback.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313461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0125" y="3134618"/>
            <a:ext cx="28353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sesi bersama antar modul (wizard).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0300" y="1467743"/>
            <a:ext cx="1260797" cy="2952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3175" y="1534418"/>
            <a:ext cx="10512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Non-functional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0300" y="189636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34175" y="1896368"/>
            <a:ext cx="25761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Hasil match &amp; skor &lt; 2 menit (target).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0300" y="214401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34175" y="2144018"/>
            <a:ext cx="23526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Stateless, autoscale di Cloud Run.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0300" y="239166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4175" y="2391668"/>
            <a:ext cx="34624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terenkripsi; CV bersifat ephemeral di sesi.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0300" y="263931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34175" y="2639318"/>
            <a:ext cx="27627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lokal saat webhook N8N gagal.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0300" y="288696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4175" y="2886968"/>
            <a:ext cx="27510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(ID/EN), alur wizard yang jelas.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0300" y="3134618"/>
            <a:ext cx="4953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34175" y="3134618"/>
            <a:ext cx="29536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per-agent, mudah dikembangkan.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250091" y="6374606"/>
            <a:ext cx="14655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20 · Requirements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Arsitektur sistem — multi-agent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47675" y="2815084"/>
            <a:ext cx="13620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43100" y="2650778"/>
            <a:ext cx="9677400" cy="466725"/>
          </a:xfrm>
          <a:prstGeom prst="roundRect">
            <a:avLst>
              <a:gd name="adj" fmla="val 24490"/>
            </a:avLst>
          </a:prstGeom>
          <a:solidFill>
            <a:srgbClr val="EEF4FE"/>
          </a:solidFill>
          <a:ln w="14288">
            <a:solidFill>
              <a:srgbClr val="D2E3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8838" y="2798415"/>
            <a:ext cx="8849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UI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051870" y="2810321"/>
            <a:ext cx="25903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· glassmorphism · wizard 5 langkah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47675" y="3346103"/>
            <a:ext cx="13620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43100" y="3222278"/>
            <a:ext cx="1859235" cy="385763"/>
          </a:xfrm>
          <a:prstGeom prst="roundRect">
            <a:avLst>
              <a:gd name="adj" fmla="val 24691"/>
            </a:avLst>
          </a:prstGeom>
          <a:solidFill>
            <a:srgbClr val="EEF2FF"/>
          </a:solidFill>
          <a:ln w="14288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4063" y="3341340"/>
            <a:ext cx="169731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CV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897585" y="3222278"/>
            <a:ext cx="1859310" cy="385763"/>
          </a:xfrm>
          <a:prstGeom prst="roundRect">
            <a:avLst>
              <a:gd name="adj" fmla="val 24691"/>
            </a:avLst>
          </a:prstGeom>
          <a:solidFill>
            <a:srgbClr val="EEF2FF"/>
          </a:solidFill>
          <a:ln w="14288">
            <a:solidFill>
              <a:srgbClr val="E0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8548" y="3341340"/>
            <a:ext cx="169738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Match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852145" y="3222278"/>
            <a:ext cx="1859235" cy="385763"/>
          </a:xfrm>
          <a:prstGeom prst="roundRect">
            <a:avLst>
              <a:gd name="adj" fmla="val 24691"/>
            </a:avLst>
          </a:prstGeom>
          <a:solidFill>
            <a:srgbClr val="EEF2FF"/>
          </a:solidFill>
          <a:ln w="14288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3108" y="3341340"/>
            <a:ext cx="169731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Review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7806630" y="3222278"/>
            <a:ext cx="1859310" cy="385763"/>
          </a:xfrm>
          <a:prstGeom prst="roundRect">
            <a:avLst>
              <a:gd name="adj" fmla="val 24691"/>
            </a:avLst>
          </a:prstGeom>
          <a:solidFill>
            <a:srgbClr val="EEF2FF"/>
          </a:solidFill>
          <a:ln w="14288">
            <a:solidFill>
              <a:srgbClr val="E0E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7593" y="3341340"/>
            <a:ext cx="169738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761190" y="3222278"/>
            <a:ext cx="1859235" cy="385763"/>
          </a:xfrm>
          <a:prstGeom prst="roundRect">
            <a:avLst>
              <a:gd name="adj" fmla="val 24691"/>
            </a:avLst>
          </a:prstGeom>
          <a:solidFill>
            <a:srgbClr val="EEF2FF"/>
          </a:solidFill>
          <a:ln w="14288">
            <a:solidFill>
              <a:srgbClr val="E0E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2153" y="3341340"/>
            <a:ext cx="169731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47675" y="3836640"/>
            <a:ext cx="13620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43100" y="3712815"/>
            <a:ext cx="2347913" cy="385763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4063" y="3831878"/>
            <a:ext cx="21859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GPT-4o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4386263" y="3712815"/>
            <a:ext cx="2347913" cy="385763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7225" y="3831878"/>
            <a:ext cx="21859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STT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6829425" y="3712815"/>
            <a:ext cx="2347913" cy="385763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0387" y="3831878"/>
            <a:ext cx="21859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TTS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9272588" y="3712815"/>
            <a:ext cx="2347913" cy="385763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3550" y="3831878"/>
            <a:ext cx="21859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FastEmbed · 384-dim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47675" y="4327178"/>
            <a:ext cx="13620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43100" y="4203353"/>
            <a:ext cx="3162300" cy="385763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0738" y="4322415"/>
            <a:ext cx="296189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Cloud </a:t>
            </a:r>
            <a:pPr algn="l" indent="0" marL="0">
              <a:buNone/>
            </a:pPr>
            <a:r>
              <a:rPr lang="en-US" sz="975" dirty="0">
                <a:solidFill>
                  <a:srgbClr val="0F766E"/>
                </a:solidFill>
                <a:highlight>
                  <a:srgbClr val="F0FDF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— vector store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5200650" y="4203353"/>
            <a:ext cx="3162300" cy="385763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8288" y="4322415"/>
            <a:ext cx="296189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 MySQL </a:t>
            </a:r>
            <a:pPr algn="l" indent="0" marL="0">
              <a:buNone/>
            </a:pPr>
            <a:r>
              <a:rPr lang="en-US" sz="975" dirty="0">
                <a:solidFill>
                  <a:srgbClr val="0F766E"/>
                </a:solidFill>
                <a:highlight>
                  <a:srgbClr val="F0FDF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— 473 lowongan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8458200" y="4203353"/>
            <a:ext cx="3162300" cy="385763"/>
          </a:xfrm>
          <a:prstGeom prst="roundRect">
            <a:avLst>
              <a:gd name="adj" fmla="val 22222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5838" y="4322415"/>
            <a:ext cx="296189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47675" y="4820096"/>
            <a:ext cx="13620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45" kern="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43100" y="4693890"/>
            <a:ext cx="9677400" cy="390525"/>
          </a:xfrm>
          <a:prstGeom prst="roundRect">
            <a:avLst>
              <a:gd name="adj" fmla="val 21951"/>
            </a:avLst>
          </a:prstGeom>
          <a:solidFill>
            <a:srgbClr val="FFFBEB"/>
          </a:solidFill>
          <a:ln w="14288">
            <a:solidFill>
              <a:srgbClr val="FCD34D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090738" y="4812953"/>
            <a:ext cx="96724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Cloud </a:t>
            </a:r>
            <a:pPr algn="l" indent="0" marL="0">
              <a:buNone/>
            </a:pPr>
            <a:r>
              <a:rPr lang="en-US" sz="975" dirty="0">
                <a:solidFill>
                  <a:srgbClr val="92400E"/>
                </a:solidFill>
                <a:highlight>
                  <a:srgbClr val="FFFBE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webhook orkestrasi → fallback lokal ke </a:t>
            </a:r>
            <a:pPr algn="l" indent="0" marL="0">
              <a:buNone/>
            </a:pPr>
            <a:r>
              <a:rPr lang="en-US" sz="975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Client langsung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0337602" y="6374606"/>
            <a:ext cx="136927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20 · Architecture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DIAGRAM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Komponen &amp; ketergantungan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154588" y="2338834"/>
            <a:ext cx="1882825" cy="561975"/>
          </a:xfrm>
          <a:prstGeom prst="roundRect">
            <a:avLst>
              <a:gd name="adj" fmla="val 2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54588" y="2891284"/>
            <a:ext cx="18828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" name="Shape 4"/>
          <p:cNvSpPr/>
          <p:nvPr/>
        </p:nvSpPr>
        <p:spPr>
          <a:xfrm>
            <a:off x="5154588" y="2338834"/>
            <a:ext cx="1882825" cy="2857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Shape 5"/>
          <p:cNvSpPr/>
          <p:nvPr/>
        </p:nvSpPr>
        <p:spPr>
          <a:xfrm>
            <a:off x="5154588" y="2338834"/>
            <a:ext cx="9525" cy="56197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8" name="Shape 6"/>
          <p:cNvSpPr/>
          <p:nvPr/>
        </p:nvSpPr>
        <p:spPr>
          <a:xfrm>
            <a:off x="7027887" y="2338834"/>
            <a:ext cx="9525" cy="56197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Text 7"/>
          <p:cNvSpPr/>
          <p:nvPr/>
        </p:nvSpPr>
        <p:spPr>
          <a:xfrm>
            <a:off x="5322384" y="2481709"/>
            <a:ext cx="15472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«controller»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22384" y="2605534"/>
            <a:ext cx="15472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Wizard UI Controller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9050" y="3053209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81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500" y="3377059"/>
            <a:ext cx="2118345" cy="757238"/>
          </a:xfrm>
          <a:prstGeom prst="roundRect">
            <a:avLst>
              <a:gd name="adj" fmla="val 2012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1790" y="3519934"/>
            <a:ext cx="205776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«component»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601790" y="3658046"/>
            <a:ext cx="20577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Parser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01790" y="3862834"/>
            <a:ext cx="20577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pdf/img → text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2804145" y="3377059"/>
            <a:ext cx="2118345" cy="757238"/>
          </a:xfrm>
          <a:prstGeom prst="roundRect">
            <a:avLst>
              <a:gd name="adj" fmla="val 2012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435" y="3519934"/>
            <a:ext cx="205776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«component»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2834435" y="3658046"/>
            <a:ext cx="20577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Matcher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2834435" y="3862834"/>
            <a:ext cx="20577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+ ANN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5036790" y="3377059"/>
            <a:ext cx="2118345" cy="757238"/>
          </a:xfrm>
          <a:prstGeom prst="roundRect">
            <a:avLst>
              <a:gd name="adj" fmla="val 2012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67080" y="3519934"/>
            <a:ext cx="205776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«component»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5067080" y="3658046"/>
            <a:ext cx="20577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Scorer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5067080" y="3862834"/>
            <a:ext cx="20577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analysis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7269435" y="3377059"/>
            <a:ext cx="2118345" cy="757238"/>
          </a:xfrm>
          <a:prstGeom prst="roundRect">
            <a:avLst>
              <a:gd name="adj" fmla="val 2012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99726" y="3519934"/>
            <a:ext cx="205776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«component»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7299726" y="3658046"/>
            <a:ext cx="20577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7299726" y="3862834"/>
            <a:ext cx="20577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agent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9502080" y="3377059"/>
            <a:ext cx="2118345" cy="757238"/>
          </a:xfrm>
          <a:prstGeom prst="roundRect">
            <a:avLst>
              <a:gd name="adj" fmla="val 2012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32371" y="3519934"/>
            <a:ext cx="205776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«component»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9532371" y="3658046"/>
            <a:ext cx="20577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9532371" y="3862834"/>
            <a:ext cx="20577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STT·LLM·TTS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9050" y="4286696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818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71500" y="4610546"/>
            <a:ext cx="2676525" cy="709613"/>
          </a:xfrm>
          <a:prstGeom prst="roundRect">
            <a:avLst>
              <a:gd name="adj" fmla="val 16107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598" y="4748659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«service»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89598" y="4872484"/>
            <a:ext cx="26403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API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589598" y="5058221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 · Whisper · TTS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3362325" y="4610546"/>
            <a:ext cx="2676525" cy="709613"/>
          </a:xfrm>
          <a:prstGeom prst="roundRect">
            <a:avLst>
              <a:gd name="adj" fmla="val 16107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0423" y="4748659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«datastore»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380423" y="4872484"/>
            <a:ext cx="26403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Cloud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3380423" y="5058221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vectors 384-dim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153150" y="4610546"/>
            <a:ext cx="2676525" cy="709613"/>
          </a:xfrm>
          <a:prstGeom prst="roundRect">
            <a:avLst>
              <a:gd name="adj" fmla="val 16107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1248" y="4748659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«datastore»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171248" y="4872484"/>
            <a:ext cx="26403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 MySQL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6171248" y="5058221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473 lowongan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8943975" y="4610546"/>
            <a:ext cx="2676525" cy="709613"/>
          </a:xfrm>
          <a:prstGeom prst="roundRect">
            <a:avLst>
              <a:gd name="adj" fmla="val 16107"/>
            </a:avLst>
          </a:prstGeom>
          <a:solidFill>
            <a:srgbClr val="FFFBEB"/>
          </a:solidFill>
          <a:ln w="14288">
            <a:solidFill>
              <a:srgbClr val="FCD34D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8962073" y="4748659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«integration»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8962073" y="4872484"/>
            <a:ext cx="26403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Cloud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8962073" y="5058221"/>
            <a:ext cx="26403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+ fallback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0334253" y="6374606"/>
            <a:ext cx="137296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20 · Components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CODEBASE · STRUKTUR KODE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Susunan proyek </a:t>
            </a:r>
            <a:pPr algn="l" indent="0" marL="0">
              <a:lnSpc>
                <a:spcPct val="87327"/>
              </a:lnSpc>
              <a:buNone/>
            </a:pPr>
            <a:r>
              <a:rPr lang="en-US" sz="2550" b="1" spc="-79" kern="0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jobsearchapp/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1372493"/>
            <a:ext cx="5680695" cy="4571107"/>
          </a:xfrm>
          <a:prstGeom prst="roundRect">
            <a:avLst>
              <a:gd name="adj" fmla="val 3334"/>
            </a:avLst>
          </a:prstGeom>
          <a:solidFill>
            <a:srgbClr val="F8FAFC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9625" y="1572518"/>
            <a:ext cx="5374866" cy="420915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jobsearchapp/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 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b="1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agents/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├─ cv_analyzer_agent.py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├─ career_agent.py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├─ interview_agent.py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├─ rag_agent.py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├─ sql_agent.py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│   └─ web_job_agent.py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 </a:t>
            </a:r>
            <a:endParaRPr lang="en-US" sz="975" dirty="0"/>
          </a:p>
          <a:p>
            <a:pPr algn="l" indent="0" marL="0">
              <a:lnSpc>
                <a:spcPct val="133824"/>
              </a:lnSpc>
              <a:buNone/>
            </a:pPr>
            <a:r>
              <a:rPr lang="en-US" sz="975" b="1" dirty="0">
                <a:solidFill>
                  <a:srgbClr val="B4530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n8n_workflows/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5 flow JSON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</a:t>
            </a:r>
            <a:pPr algn="l" indent="0" marL="0">
              <a:lnSpc>
                <a:spcPct val="133824"/>
              </a:lnSpc>
              <a:buNone/>
            </a:pPr>
            <a:r>
              <a:rPr lang="en-US" sz="975" b="1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dataset/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jobs.jsonl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473 job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app.py        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Streamlit + wizard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config.py     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env &amp; secrets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vector_store.py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Qdrant manager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database.py   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Aiven MySQL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n8n_client.py  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webhook + fallback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├─ cv_processor.py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# parsing CV </a:t>
            </a:r>
            <a:pPr algn="l" indent="0" marL="0">
              <a:lnSpc>
                <a:spcPct val="133824"/>
              </a:lnSpc>
              <a:buNone/>
            </a:pPr>
            <a:r>
              <a:rPr lang="en-US" sz="975" dirty="0">
                <a:solidFill>
                  <a:srgbClr val="334155"/>
                </a:solidFill>
                <a:highlight>
                  <a:srgbClr val="F8FAFC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└─ requirements.txt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6480795" y="1372493"/>
            <a:ext cx="5139630" cy="711994"/>
          </a:xfrm>
          <a:prstGeom prst="roundRect">
            <a:avLst>
              <a:gd name="adj" fmla="val 21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0795" y="2074962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8" name="Shape 6"/>
          <p:cNvSpPr/>
          <p:nvPr/>
        </p:nvSpPr>
        <p:spPr>
          <a:xfrm>
            <a:off x="6480795" y="1372493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Shape 7"/>
          <p:cNvSpPr/>
          <p:nvPr/>
        </p:nvSpPr>
        <p:spPr>
          <a:xfrm>
            <a:off x="6480795" y="1372493"/>
            <a:ext cx="38100" cy="71199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0901" y="1372493"/>
            <a:ext cx="9525" cy="71199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1" name="Text 9"/>
          <p:cNvSpPr/>
          <p:nvPr/>
        </p:nvSpPr>
        <p:spPr>
          <a:xfrm>
            <a:off x="6690345" y="1534418"/>
            <a:ext cx="522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agents/ — layer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90345" y="1743968"/>
            <a:ext cx="52240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analyzer, career, interview, RAG, SQL &amp; web-job agent — satu file per tugas.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6480795" y="2198787"/>
            <a:ext cx="5139630" cy="711994"/>
          </a:xfrm>
          <a:prstGeom prst="roundRect">
            <a:avLst>
              <a:gd name="adj" fmla="val 21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0795" y="2901255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0795" y="2198787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0795" y="2198787"/>
            <a:ext cx="38100" cy="71199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10901" y="2198787"/>
            <a:ext cx="9525" cy="71199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8" name="Text 16"/>
          <p:cNvSpPr/>
          <p:nvPr/>
        </p:nvSpPr>
        <p:spPr>
          <a:xfrm>
            <a:off x="6690345" y="2360712"/>
            <a:ext cx="522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inti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90345" y="2570262"/>
            <a:ext cx="52240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app.py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orkestrasi wizard;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vector_store.py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database.py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lapisan data.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6480795" y="3025080"/>
            <a:ext cx="5139630" cy="711994"/>
          </a:xfrm>
          <a:prstGeom prst="roundRect">
            <a:avLst>
              <a:gd name="adj" fmla="val 21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0795" y="3727549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80795" y="3025080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80795" y="3025080"/>
            <a:ext cx="38100" cy="71199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10901" y="3025080"/>
            <a:ext cx="9525" cy="71199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5" name="Text 23"/>
          <p:cNvSpPr/>
          <p:nvPr/>
        </p:nvSpPr>
        <p:spPr>
          <a:xfrm>
            <a:off x="6690345" y="3187005"/>
            <a:ext cx="522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90345" y="3396555"/>
            <a:ext cx="52240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n8n_client.py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memanggil 5 workflow N8N; fallback ke OpenAI langsung.</a:t>
            </a:r>
            <a:endParaRPr lang="en-US" sz="938" dirty="0"/>
          </a:p>
        </p:txBody>
      </p:sp>
      <p:sp>
        <p:nvSpPr>
          <p:cNvPr id="27" name="Shape 25"/>
          <p:cNvSpPr/>
          <p:nvPr/>
        </p:nvSpPr>
        <p:spPr>
          <a:xfrm>
            <a:off x="6480795" y="3851374"/>
            <a:ext cx="5139630" cy="711994"/>
          </a:xfrm>
          <a:prstGeom prst="roundRect">
            <a:avLst>
              <a:gd name="adj" fmla="val 21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80795" y="4553843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80795" y="3851374"/>
            <a:ext cx="513963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0795" y="3851374"/>
            <a:ext cx="38100" cy="71199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10901" y="3851374"/>
            <a:ext cx="9525" cy="71199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2" name="Text 30"/>
          <p:cNvSpPr/>
          <p:nvPr/>
        </p:nvSpPr>
        <p:spPr>
          <a:xfrm>
            <a:off x="6690345" y="4013299"/>
            <a:ext cx="522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90345" y="4222849"/>
            <a:ext cx="52240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dataset/jobs.jsonl </a:t>
            </a:r>
            <a:pPr algn="l" indent="0" marL="0">
              <a:lnSpc>
                <a:spcPct val="125000"/>
              </a:lnSpc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473 lowongan, di-embed ke Qdrant.</a:t>
            </a:r>
            <a:endParaRPr lang="en-US" sz="938" dirty="0"/>
          </a:p>
        </p:txBody>
      </p:sp>
      <p:sp>
        <p:nvSpPr>
          <p:cNvPr id="34" name="Shape 32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0511582" y="6374606"/>
            <a:ext cx="11470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20 · Codebase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· N8N WORKFLOWS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Orkestrasi AI via N8N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1353443"/>
            <a:ext cx="1169343" cy="390525"/>
          </a:xfrm>
          <a:prstGeom prst="roundRect">
            <a:avLst>
              <a:gd name="adj" fmla="val 3902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3425" y="1467743"/>
            <a:ext cx="9216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app.py </a:t>
            </a:r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wizard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874193" y="1455837"/>
            <a:ext cx="228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59943" y="1353443"/>
            <a:ext cx="1968475" cy="390525"/>
          </a:xfrm>
          <a:prstGeom prst="roundRect">
            <a:avLst>
              <a:gd name="adj" fmla="val 3902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21868" y="1467743"/>
            <a:ext cx="1720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n8n_client.py </a:t>
            </a:r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call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61768" y="1455837"/>
            <a:ext cx="228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47518" y="1355824"/>
            <a:ext cx="1798067" cy="385763"/>
          </a:xfrm>
          <a:prstGeom prst="roundRect">
            <a:avLst>
              <a:gd name="adj" fmla="val 29630"/>
            </a:avLst>
          </a:prstGeom>
          <a:solidFill>
            <a:srgbClr val="FFFBEB"/>
          </a:solidFill>
          <a:ln w="14288">
            <a:solidFill>
              <a:srgbClr val="FCD34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14205" y="1474887"/>
            <a:ext cx="154089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Cloud </a:t>
            </a:r>
            <a:pPr algn="l" indent="0" marL="0">
              <a:buNone/>
            </a:pPr>
            <a:r>
              <a:rPr lang="en-US" sz="975" dirty="0">
                <a:solidFill>
                  <a:srgbClr val="92400E"/>
                </a:solidFill>
                <a:highlight>
                  <a:srgbClr val="FFFBE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78935" y="1441549"/>
            <a:ext cx="3626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┈▶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98779" y="1477268"/>
            <a:ext cx="1406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</a:t>
            </a:r>
            <a:pPr algn="l" indent="0" marL="0">
              <a:buNone/>
            </a:pPr>
            <a:r>
              <a:rPr lang="en-US" sz="938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Client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571500" y="3375645"/>
            <a:ext cx="2118345" cy="1145828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" y="4511948"/>
            <a:ext cx="211834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375645"/>
            <a:ext cx="211834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0320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9" name="Text 17"/>
          <p:cNvSpPr/>
          <p:nvPr/>
        </p:nvSpPr>
        <p:spPr>
          <a:xfrm>
            <a:off x="714375" y="3556620"/>
            <a:ext cx="20158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4F46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1_cv_job_matcher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714375" y="3785220"/>
            <a:ext cx="20158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Matching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714375" y="4028108"/>
            <a:ext cx="19087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CV → ANN search Qdrant.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04145" y="3375645"/>
            <a:ext cx="2118345" cy="1145828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04145" y="4511948"/>
            <a:ext cx="211834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4" name="Shape 22"/>
          <p:cNvSpPr/>
          <p:nvPr/>
        </p:nvSpPr>
        <p:spPr>
          <a:xfrm>
            <a:off x="2804145" y="3375645"/>
            <a:ext cx="2118345" cy="2857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Shape 23"/>
          <p:cNvSpPr/>
          <p:nvPr/>
        </p:nvSpPr>
        <p:spPr>
          <a:xfrm>
            <a:off x="2804145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912965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7" name="Text 25"/>
          <p:cNvSpPr/>
          <p:nvPr/>
        </p:nvSpPr>
        <p:spPr>
          <a:xfrm>
            <a:off x="2947020" y="3556620"/>
            <a:ext cx="20158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EA58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2_cv_reviewer</a:t>
            </a:r>
            <a:endParaRPr lang="en-US" sz="863" dirty="0"/>
          </a:p>
        </p:txBody>
      </p:sp>
      <p:sp>
        <p:nvSpPr>
          <p:cNvPr id="28" name="Text 26"/>
          <p:cNvSpPr/>
          <p:nvPr/>
        </p:nvSpPr>
        <p:spPr>
          <a:xfrm>
            <a:off x="2947020" y="3785220"/>
            <a:ext cx="20158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Review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2947020" y="4028108"/>
            <a:ext cx="2015855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 skor + rekomendasi CV.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36790" y="3375645"/>
            <a:ext cx="2118345" cy="1145828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36790" y="4511948"/>
            <a:ext cx="211834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2" name="Shape 30"/>
          <p:cNvSpPr/>
          <p:nvPr/>
        </p:nvSpPr>
        <p:spPr>
          <a:xfrm>
            <a:off x="5036790" y="3375645"/>
            <a:ext cx="2118345" cy="2857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3" name="Shape 31"/>
          <p:cNvSpPr/>
          <p:nvPr/>
        </p:nvSpPr>
        <p:spPr>
          <a:xfrm>
            <a:off x="5036790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145610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5" name="Text 33"/>
          <p:cNvSpPr/>
          <p:nvPr/>
        </p:nvSpPr>
        <p:spPr>
          <a:xfrm>
            <a:off x="5179665" y="3556620"/>
            <a:ext cx="20158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1A73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3_ats_cv_generator</a:t>
            </a:r>
            <a:endParaRPr lang="en-US" sz="863" dirty="0"/>
          </a:p>
        </p:txBody>
      </p:sp>
      <p:sp>
        <p:nvSpPr>
          <p:cNvPr id="36" name="Text 34"/>
          <p:cNvSpPr/>
          <p:nvPr/>
        </p:nvSpPr>
        <p:spPr>
          <a:xfrm>
            <a:off x="5179665" y="3785220"/>
            <a:ext cx="20158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CV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5179665" y="4028108"/>
            <a:ext cx="2015855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Susun ulang CV jadi ATS-friendly.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69435" y="3375645"/>
            <a:ext cx="2118345" cy="1145828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69435" y="4511948"/>
            <a:ext cx="211834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0" name="Shape 38"/>
          <p:cNvSpPr/>
          <p:nvPr/>
        </p:nvSpPr>
        <p:spPr>
          <a:xfrm>
            <a:off x="7269435" y="3375645"/>
            <a:ext cx="2118345" cy="2857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1" name="Shape 39"/>
          <p:cNvSpPr/>
          <p:nvPr/>
        </p:nvSpPr>
        <p:spPr>
          <a:xfrm>
            <a:off x="7269435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9378255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3" name="Text 41"/>
          <p:cNvSpPr/>
          <p:nvPr/>
        </p:nvSpPr>
        <p:spPr>
          <a:xfrm>
            <a:off x="7412310" y="3556620"/>
            <a:ext cx="20158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0284C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4_career_consultant</a:t>
            </a:r>
            <a:endParaRPr lang="en-US" sz="863" dirty="0"/>
          </a:p>
        </p:txBody>
      </p:sp>
      <p:sp>
        <p:nvSpPr>
          <p:cNvPr id="44" name="Text 42"/>
          <p:cNvSpPr/>
          <p:nvPr/>
        </p:nvSpPr>
        <p:spPr>
          <a:xfrm>
            <a:off x="7412310" y="3785220"/>
            <a:ext cx="20158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Chat</a:t>
            </a:r>
            <a:endParaRPr lang="en-US" sz="1013" dirty="0"/>
          </a:p>
        </p:txBody>
      </p:sp>
      <p:sp>
        <p:nvSpPr>
          <p:cNvPr id="45" name="Text 43"/>
          <p:cNvSpPr/>
          <p:nvPr/>
        </p:nvSpPr>
        <p:spPr>
          <a:xfrm>
            <a:off x="7412310" y="4028108"/>
            <a:ext cx="2015855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Konsultasi karir &amp; skill-gap.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502080" y="3375645"/>
            <a:ext cx="2118345" cy="1145828"/>
          </a:xfrm>
          <a:prstGeom prst="roundRect">
            <a:avLst>
              <a:gd name="adj" fmla="val 13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502080" y="4511948"/>
            <a:ext cx="211834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48" name="Shape 46"/>
          <p:cNvSpPr/>
          <p:nvPr/>
        </p:nvSpPr>
        <p:spPr>
          <a:xfrm>
            <a:off x="9502080" y="3375645"/>
            <a:ext cx="2118345" cy="285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Shape 47"/>
          <p:cNvSpPr/>
          <p:nvPr/>
        </p:nvSpPr>
        <p:spPr>
          <a:xfrm>
            <a:off x="9502080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610901" y="3375645"/>
            <a:ext cx="9525" cy="1145828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1" name="Text 49"/>
          <p:cNvSpPr/>
          <p:nvPr/>
        </p:nvSpPr>
        <p:spPr>
          <a:xfrm>
            <a:off x="9644955" y="3556620"/>
            <a:ext cx="20158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5_sql_agent</a:t>
            </a:r>
            <a:endParaRPr lang="en-US" sz="863" dirty="0"/>
          </a:p>
        </p:txBody>
      </p:sp>
      <p:sp>
        <p:nvSpPr>
          <p:cNvPr id="52" name="Text 50"/>
          <p:cNvSpPr/>
          <p:nvPr/>
        </p:nvSpPr>
        <p:spPr>
          <a:xfrm>
            <a:off x="9644955" y="3785220"/>
            <a:ext cx="20158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Agent</a:t>
            </a:r>
            <a:endParaRPr lang="en-US" sz="1013" dirty="0"/>
          </a:p>
        </p:txBody>
      </p:sp>
      <p:sp>
        <p:nvSpPr>
          <p:cNvPr id="53" name="Text 51"/>
          <p:cNvSpPr/>
          <p:nvPr/>
        </p:nvSpPr>
        <p:spPr>
          <a:xfrm>
            <a:off x="9644955" y="4028108"/>
            <a:ext cx="19087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katalog lowongan Aiven MySQL.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56" name="Text 54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0164217" y="6374606"/>
            <a:ext cx="156000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 · N8N Workflows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· ERD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Skema data &amp; relasi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2162621"/>
            <a:ext cx="3594050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1025" y="2172146"/>
            <a:ext cx="3575000" cy="33813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14375" y="2267396"/>
            <a:ext cx="3415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user_session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14375" y="2624584"/>
            <a:ext cx="3415550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🔑 session_id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· locale created_at</a:t>
            </a:r>
            <a:endParaRPr lang="en-US" sz="938" dirty="0"/>
          </a:p>
        </p:txBody>
      </p:sp>
      <p:sp>
        <p:nvSpPr>
          <p:cNvPr id="8" name="Shape 6"/>
          <p:cNvSpPr/>
          <p:nvPr/>
        </p:nvSpPr>
        <p:spPr>
          <a:xfrm>
            <a:off x="4298900" y="2162621"/>
            <a:ext cx="3594125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08425" y="2172146"/>
            <a:ext cx="3575075" cy="33813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441775" y="2267396"/>
            <a:ext cx="34156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cv_document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441775" y="2624584"/>
            <a:ext cx="3415627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🔑 cv_id 🔗 session_id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raw_text · parsed_json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8026375" y="2162621"/>
            <a:ext cx="3594125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35900" y="2172146"/>
            <a:ext cx="3575075" cy="33813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8169250" y="2267396"/>
            <a:ext cx="34156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169250" y="2624584"/>
            <a:ext cx="3415627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🔑 job_id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· company description · skills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571500" y="3560415"/>
            <a:ext cx="3594050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025" y="3569940"/>
            <a:ext cx="3575000" cy="33813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Text 16"/>
          <p:cNvSpPr/>
          <p:nvPr/>
        </p:nvSpPr>
        <p:spPr>
          <a:xfrm>
            <a:off x="714375" y="3665190"/>
            <a:ext cx="34155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highlight>
                  <a:srgbClr val="F0FDF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job_embedding </a:t>
            </a:r>
            <a:pPr algn="l"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(Qdrant)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14375" y="4022378"/>
            <a:ext cx="3415550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🔑 point_id 🔗 job_id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vector[384] · payload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4298900" y="3560415"/>
            <a:ext cx="3594125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8425" y="3569940"/>
            <a:ext cx="3575075" cy="338138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4441775" y="3665190"/>
            <a:ext cx="34156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match_result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441775" y="4022378"/>
            <a:ext cx="3415627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🔗 cv_id · 🔗 job_id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· matched_kw gaps</a:t>
            </a:r>
            <a:endParaRPr lang="en-US" sz="938" dirty="0"/>
          </a:p>
        </p:txBody>
      </p:sp>
      <p:sp>
        <p:nvSpPr>
          <p:cNvPr id="24" name="Shape 22"/>
          <p:cNvSpPr/>
          <p:nvPr/>
        </p:nvSpPr>
        <p:spPr>
          <a:xfrm>
            <a:off x="8026375" y="3560415"/>
            <a:ext cx="3594125" cy="1264444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35900" y="3569940"/>
            <a:ext cx="3575075" cy="338138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8169250" y="3665190"/>
            <a:ext cx="341562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interview_session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169250" y="4022378"/>
            <a:ext cx="3415627" cy="716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🔑 iv_id 🔗 session_id </a:t>
            </a:r>
            <a:pPr algn="l" indent="0" marL="0">
              <a:lnSpc>
                <a:spcPct val="158333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 · feedback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571500" y="4996309"/>
            <a:ext cx="19376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user_session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1—N cv_document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42505" y="4996309"/>
            <a:ext cx="139891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1—1 job_embedding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792" y="4996309"/>
            <a:ext cx="162957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× job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N—N match_result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4777" y="4996309"/>
            <a:ext cx="136035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1—N interview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838780" y="6374606"/>
            <a:ext cx="8198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20 · ERD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ARCHITECTURE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Topologi deployment cloud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3255615"/>
            <a:ext cx="1126406" cy="1004887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3425" y="3436590"/>
            <a:ext cx="8025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33425" y="3798540"/>
            <a:ext cx="80255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733425" y="3955703"/>
            <a:ext cx="80255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sign-in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15653" y="4336703"/>
            <a:ext cx="7143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/ TLS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907456" y="3717578"/>
            <a:ext cx="3048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45606" y="3191321"/>
            <a:ext cx="6275189" cy="1333500"/>
          </a:xfrm>
          <a:prstGeom prst="roundRect">
            <a:avLst>
              <a:gd name="adj" fmla="val 12857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555156" y="3400871"/>
            <a:ext cx="644169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· Cloud Run </a:t>
            </a:r>
            <a:pPr algn="l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(container · autoscale · stateless)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55156" y="3653284"/>
            <a:ext cx="5856089" cy="661988"/>
          </a:xfrm>
          <a:prstGeom prst="roundRect">
            <a:avLst>
              <a:gd name="adj" fmla="val 23022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40469" y="3815209"/>
            <a:ext cx="60854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App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440469" y="4015234"/>
            <a:ext cx="608546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agents · session_state · secrets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30345" y="3717578"/>
            <a:ext cx="3048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68495" y="2915096"/>
            <a:ext cx="2352005" cy="385763"/>
          </a:xfrm>
          <a:prstGeom prst="roundRect">
            <a:avLst>
              <a:gd name="adj" fmla="val 29630"/>
            </a:avLst>
          </a:prstGeom>
          <a:solidFill>
            <a:srgbClr val="F0F9FF"/>
          </a:solidFill>
          <a:ln w="14288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6132" y="3034159"/>
            <a:ext cx="21329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759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API </a:t>
            </a:r>
            <a:pPr algn="l" indent="0" marL="0">
              <a:buNone/>
            </a:pPr>
            <a:r>
              <a:rPr lang="en-US" sz="975" dirty="0">
                <a:solidFill>
                  <a:srgbClr val="075985"/>
                </a:solidFill>
                <a:highlight>
                  <a:srgbClr val="F0F9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· GPT-4o/Whisper/TTS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9268495" y="3415159"/>
            <a:ext cx="2352005" cy="385763"/>
          </a:xfrm>
          <a:prstGeom prst="roundRect">
            <a:avLst>
              <a:gd name="adj" fmla="val 29630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6132" y="3534221"/>
            <a:ext cx="21329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Cloud </a:t>
            </a:r>
            <a:pPr algn="l" indent="0" marL="0">
              <a:buNone/>
            </a:pPr>
            <a:r>
              <a:rPr lang="en-US" sz="975" dirty="0">
                <a:solidFill>
                  <a:srgbClr val="0F766E"/>
                </a:solidFill>
                <a:highlight>
                  <a:srgbClr val="F0FDF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· vectors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268495" y="3915221"/>
            <a:ext cx="2352005" cy="385763"/>
          </a:xfrm>
          <a:prstGeom prst="roundRect">
            <a:avLst>
              <a:gd name="adj" fmla="val 29630"/>
            </a:avLst>
          </a:prstGeom>
          <a:solidFill>
            <a:srgbClr val="F0FDFA"/>
          </a:solidFill>
          <a:ln w="14288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6132" y="4034284"/>
            <a:ext cx="21329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 MySQL </a:t>
            </a:r>
            <a:pPr algn="l" indent="0" marL="0">
              <a:buNone/>
            </a:pPr>
            <a:r>
              <a:rPr lang="en-US" sz="975" dirty="0">
                <a:solidFill>
                  <a:srgbClr val="0F766E"/>
                </a:solidFill>
                <a:highlight>
                  <a:srgbClr val="F0FDF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· katalog job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9268495" y="4415284"/>
            <a:ext cx="2352005" cy="385763"/>
          </a:xfrm>
          <a:prstGeom prst="roundRect">
            <a:avLst>
              <a:gd name="adj" fmla="val 29630"/>
            </a:avLst>
          </a:prstGeom>
          <a:solidFill>
            <a:srgbClr val="FFFBEB"/>
          </a:solidFill>
          <a:ln w="14288">
            <a:solidFill>
              <a:srgbClr val="FCD34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416132" y="4534346"/>
            <a:ext cx="21329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Cloud </a:t>
            </a:r>
            <a:pPr algn="l" indent="0" marL="0">
              <a:buNone/>
            </a:pPr>
            <a:r>
              <a:rPr lang="en-US" sz="975" dirty="0">
                <a:solidFill>
                  <a:srgbClr val="92400E"/>
                </a:solidFill>
                <a:highlight>
                  <a:srgbClr val="FFFBE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· orchestration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375702" y="6374606"/>
            <a:ext cx="1327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 · Deployment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ARCHITECTURE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Keamanan berlapis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2568476"/>
            <a:ext cx="3555950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8675" y="2787551"/>
            <a:ext cx="916335" cy="295275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2854226"/>
            <a:ext cx="7067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967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8675" y="3197126"/>
            <a:ext cx="3211334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HTTPS/TLS end-to-end; koneksi terenkripsi ke seluruh service eksternal.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7950" y="2568476"/>
            <a:ext cx="3556025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7025" y="2787551"/>
            <a:ext cx="777255" cy="2952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4679900" y="2854226"/>
            <a:ext cx="567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37025" y="3197126"/>
            <a:ext cx="321141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&amp; kredensial disimpan di </a:t>
            </a:r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st.secrets </a:t>
            </a:r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env, tidak pernah di-hardcode.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6375" y="2568476"/>
            <a:ext cx="3556025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5450" y="2787551"/>
            <a:ext cx="593452" cy="295275"/>
          </a:xfrm>
          <a:prstGeom prst="roundRect">
            <a:avLst>
              <a:gd name="adj" fmla="val 50000"/>
            </a:avLst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88325" y="2854226"/>
            <a:ext cx="38390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45450" y="3197126"/>
            <a:ext cx="321141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Sign-In sebagai identitas pengguna; akses per-sesi.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00" y="3981896"/>
            <a:ext cx="3555950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675" y="4200971"/>
            <a:ext cx="1098649" cy="295275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" y="4267646"/>
            <a:ext cx="8890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8675" y="4610546"/>
            <a:ext cx="3211334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bersifat </a:t>
            </a:r>
            <a:pPr algn="l" indent="0" marL="0">
              <a:lnSpc>
                <a:spcPct val="127647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ephemeral </a:t>
            </a:r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session_state — tidak dipersistensi setelah sesi berakhir.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7950" y="3981896"/>
            <a:ext cx="3556025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37025" y="4200971"/>
            <a:ext cx="944835" cy="295275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79900" y="4267646"/>
            <a:ext cx="7352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37025" y="4610546"/>
            <a:ext cx="321141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otomatis ke OpenAI Client saat webhook N8N gagal — layanan tetap jalan.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6375" y="3981896"/>
            <a:ext cx="3556025" cy="1261021"/>
          </a:xfrm>
          <a:prstGeom prst="roundRect">
            <a:avLst>
              <a:gd name="adj" fmla="val 12085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45450" y="4200971"/>
            <a:ext cx="833289" cy="295275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8388325" y="4267646"/>
            <a:ext cx="6237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45450" y="4610546"/>
            <a:ext cx="321141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Cloud Run stateless &amp; terisolasi; scaling tanpa berbagi state antar instance.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0599390" y="6374606"/>
            <a:ext cx="105921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20 · Security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&amp; PERFORMANCE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Skala &amp; performa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09600" y="1467743"/>
            <a:ext cx="5850062" cy="976312"/>
          </a:xfrm>
          <a:prstGeom prst="roundRect">
            <a:avLst>
              <a:gd name="adj" fmla="val 15610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9625" y="1648718"/>
            <a:ext cx="59950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Autoscale stateless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09625" y="1877318"/>
            <a:ext cx="56135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Run menambah/mengurangi instance sesuai trafik; scale-to-zero saat idle → hemat biaya.</a:t>
            </a:r>
            <a:endParaRPr lang="en-US" sz="1013" dirty="0"/>
          </a:p>
        </p:txBody>
      </p:sp>
      <p:sp>
        <p:nvSpPr>
          <p:cNvPr id="7" name="Shape 5"/>
          <p:cNvSpPr/>
          <p:nvPr/>
        </p:nvSpPr>
        <p:spPr>
          <a:xfrm>
            <a:off x="609600" y="2577405"/>
            <a:ext cx="5850062" cy="783431"/>
          </a:xfrm>
          <a:prstGeom prst="roundRect">
            <a:avLst>
              <a:gd name="adj" fmla="val 194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9625" y="2758380"/>
            <a:ext cx="59950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 cepat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09625" y="2986980"/>
            <a:ext cx="599501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ANN atas vektor 384-dim → pencarian sub-detik meski katalog tumbuh.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609600" y="3494187"/>
            <a:ext cx="5850062" cy="783431"/>
          </a:xfrm>
          <a:prstGeom prst="roundRect">
            <a:avLst>
              <a:gd name="adj" fmla="val 19453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625" y="3675162"/>
            <a:ext cx="59950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Beban AI ter-offload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09625" y="3903762"/>
            <a:ext cx="599501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Inferensi berat ditangani OpenAI API &amp; N8N; app tetap ringan.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6707312" y="1467743"/>
            <a:ext cx="4875088" cy="4856857"/>
          </a:xfrm>
          <a:prstGeom prst="roundRect">
            <a:avLst>
              <a:gd name="adj" fmla="val 3138"/>
            </a:avLst>
          </a:prstGeom>
          <a:solidFill>
            <a:srgbClr val="F8FAFC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26387" y="1686818"/>
            <a:ext cx="48806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targets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(SLO)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926387" y="1991618"/>
            <a:ext cx="1226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872118" y="1991618"/>
            <a:ext cx="5674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 mnt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26387" y="2277368"/>
            <a:ext cx="12336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search p95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39537" y="2277368"/>
            <a:ext cx="4999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 dtk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26387" y="2563118"/>
            <a:ext cx="8927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05877" y="2563118"/>
            <a:ext cx="7336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26387" y="2848868"/>
            <a:ext cx="6113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cost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475788" y="2848868"/>
            <a:ext cx="963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scale-to-zero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26387" y="3134618"/>
            <a:ext cx="120215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Katalog lowongan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11569" y="3134618"/>
            <a:ext cx="10279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473 → tumbuh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0483230" y="6374606"/>
            <a:ext cx="117537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20 · Scalability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· SWOT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Posisi strategis JobMatch AI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71500" y="1372493"/>
            <a:ext cx="5448300" cy="2209354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3572321"/>
            <a:ext cx="54483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72493"/>
            <a:ext cx="5448300" cy="2857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72493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8" name="Shape 6"/>
          <p:cNvSpPr/>
          <p:nvPr/>
        </p:nvSpPr>
        <p:spPr>
          <a:xfrm>
            <a:off x="6010275" y="1372493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591568"/>
            <a:ext cx="551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52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0425" y="1848743"/>
            <a:ext cx="50165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All-in-one: 5 modul dalam satu alur wizard.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matching (Qdrant) + GPT-4o, akurat &amp; relevan.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(ID/EN), fokus pasar Indonesia.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Arsitektur modular per-agent, mudah dikembangkan.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6172200" y="1372493"/>
            <a:ext cx="5448300" cy="2209354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3572321"/>
            <a:ext cx="54483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372493"/>
            <a:ext cx="5448300" cy="2857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372493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0975" y="1372493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275" y="1591568"/>
            <a:ext cx="551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52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1125" y="1848743"/>
            <a:ext cx="50165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Bergantung pada API pihak ketiga (OpenAI) &amp; biayanya.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Katalog awal terbatas (473 lowongan).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ephemeral — belum ada riwayat/persistensi pengguna.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Kualitas hasil bergantung pada prompt &amp; webhook N8N.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571500" y="3734246"/>
            <a:ext cx="5448300" cy="2209354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1500" y="5934075"/>
            <a:ext cx="54483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734246"/>
            <a:ext cx="5448300" cy="285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734246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010275" y="3734246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Text 21"/>
          <p:cNvSpPr/>
          <p:nvPr/>
        </p:nvSpPr>
        <p:spPr>
          <a:xfrm>
            <a:off x="790575" y="3953321"/>
            <a:ext cx="551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52" kern="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0425" y="4210496"/>
            <a:ext cx="50165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job board real-time &amp; auto-apply.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Kemitraan kampus &amp; career center.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Ekspansi ke skill-gap roadmap + rekomendasi kursus.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Tingginya kebutuhan job seeker menghadapi ATS.</a:t>
            </a:r>
            <a:endParaRPr lang="en-US" sz="1013" dirty="0"/>
          </a:p>
        </p:txBody>
      </p:sp>
      <p:sp>
        <p:nvSpPr>
          <p:cNvPr id="25" name="Shape 23"/>
          <p:cNvSpPr/>
          <p:nvPr/>
        </p:nvSpPr>
        <p:spPr>
          <a:xfrm>
            <a:off x="6172200" y="3734246"/>
            <a:ext cx="5448300" cy="2209354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5934075"/>
            <a:ext cx="544830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3734246"/>
            <a:ext cx="5448300" cy="285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3734246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10975" y="3734246"/>
            <a:ext cx="9525" cy="220935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0" name="Text 28"/>
          <p:cNvSpPr/>
          <p:nvPr/>
        </p:nvSpPr>
        <p:spPr>
          <a:xfrm>
            <a:off x="6391275" y="3953321"/>
            <a:ext cx="55111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52" kern="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61125" y="4210496"/>
            <a:ext cx="501650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Kompetitor besar (LinkedIn, platform ATS mapan).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Perubahan harga/kebijakan API model AI.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Isu privasi &amp; regulasi data CV.</a:t>
            </a:r>
            <a:endParaRPr lang="en-US" sz="1013" dirty="0"/>
          </a:p>
          <a:p>
            <a:pPr algn="l" marL="101600" indent="-101600">
              <a:lnSpc>
                <a:spcPct val="130909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Perubahan algoritma ATS yang cepat.</a:t>
            </a:r>
            <a:endParaRPr lang="en-US" sz="1013" dirty="0"/>
          </a:p>
        </p:txBody>
      </p:sp>
      <p:sp>
        <p:nvSpPr>
          <p:cNvPr id="32" name="Shape 30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716295" y="6374606"/>
            <a:ext cx="94230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20 · SWOT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8150"/>
            <a:ext cx="122377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BISNIS · BUSINESS MODEL CANVAS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33400" y="666750"/>
            <a:ext cx="122377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3400" y="1179165"/>
            <a:ext cx="2148780" cy="3514427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6750" y="1302990"/>
            <a:ext cx="20702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PARTNERS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98500" y="1483965"/>
            <a:ext cx="1926530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OpenAI, Qdrant, Aiven, N8N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Kampus &amp; career center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boards / mitra HR</a:t>
            </a:r>
            <a:endParaRPr lang="en-US" sz="788" dirty="0"/>
          </a:p>
        </p:txBody>
      </p:sp>
      <p:sp>
        <p:nvSpPr>
          <p:cNvPr id="7" name="Shape 5"/>
          <p:cNvSpPr/>
          <p:nvPr/>
        </p:nvSpPr>
        <p:spPr>
          <a:xfrm>
            <a:off x="2777430" y="1179165"/>
            <a:ext cx="2148855" cy="170958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0780" y="1302990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ACTIVITIES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942530" y="1483965"/>
            <a:ext cx="192660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Pengembangan AI agents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Kurasi dataset lowongan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&amp; integrasi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2777430" y="2984004"/>
            <a:ext cx="2148855" cy="170958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10780" y="3107829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RESOURCES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942530" y="3288804"/>
            <a:ext cx="192660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AI (GPT-4o/Whisper/TTS)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 + dataset 473+ job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 AI/ML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5021535" y="1179165"/>
            <a:ext cx="2148855" cy="3514427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54885" y="1302990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186635" y="1483965"/>
            <a:ext cx="192660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platform: ATS + match + interview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Skor &amp; rekomendasi instan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ID/EN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Hemat waktu job seeker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7265640" y="1179165"/>
            <a:ext cx="2148855" cy="170958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98990" y="1302990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RELATIONSHIPS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430740" y="1483965"/>
            <a:ext cx="192660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wizard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AI personal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Gratis untuk memulai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7265640" y="2984004"/>
            <a:ext cx="2148855" cy="1709589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98990" y="3107829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430740" y="3288804"/>
            <a:ext cx="192660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 (Streamlit)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sign-in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report &amp; sosial media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9509745" y="1179165"/>
            <a:ext cx="2148855" cy="3514427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43095" y="1302990"/>
            <a:ext cx="2070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674845" y="1483965"/>
            <a:ext cx="1926605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graduate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switcher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Korban PHK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Pencari remote / side job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533400" y="4788843"/>
            <a:ext cx="4392885" cy="123088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6750" y="4912668"/>
            <a:ext cx="4538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STRUCTURE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98500" y="5093643"/>
            <a:ext cx="417063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API AI &amp; hosting Cloud Run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Langganan Qdrant / Aiven / N8N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Pengembangan &amp; maintenance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5021535" y="4788843"/>
            <a:ext cx="6637065" cy="1230883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54885" y="4912668"/>
            <a:ext cx="70074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STREAMS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86635" y="5093643"/>
            <a:ext cx="6414815" cy="472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 → langganan premium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 B2B (kampus / HR)</a:t>
            </a:r>
            <a:endParaRPr lang="en-US" sz="788" dirty="0"/>
          </a:p>
          <a:p>
            <a:pPr algn="l" marL="101600" indent="-101600">
              <a:lnSpc>
                <a:spcPct val="1218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78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Pay-per-report / add-on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687595" y="6374606"/>
            <a:ext cx="208428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20 · Business Model Canvas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300"/>
            <a:ext cx="1215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· AI ROADMAP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71500" y="742950"/>
            <a:ext cx="1215390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Peta jalan AI ke depan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38175" y="1515368"/>
            <a:ext cx="10915650" cy="19050"/>
          </a:xfrm>
          <a:prstGeom prst="rect">
            <a:avLst/>
          </a:prstGeom>
          <a:gradFill rotWithShape="1">
            <a:gsLst>
              <a:gs pos="0">
                <a:srgbClr val="1A73E8">
                  <a:alpha val="100000"/>
                </a:srgbClr>
              </a:gs>
              <a:gs pos="33333">
                <a:srgbClr val="4F46E5">
                  <a:alpha val="100000"/>
                </a:srgbClr>
              </a:gs>
              <a:gs pos="66667">
                <a:srgbClr val="0284C7">
                  <a:alpha val="100000"/>
                </a:srgbClr>
              </a:gs>
              <a:gs pos="100000">
                <a:srgbClr val="0F766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571500" y="1534418"/>
            <a:ext cx="133350" cy="133350"/>
          </a:xfrm>
          <a:prstGeom prst="ellipse">
            <a:avLst/>
          </a:prstGeom>
          <a:solidFill>
            <a:srgbClr val="1A73E8"/>
          </a:solidFill>
          <a:ln/>
          <a:effectLst>
            <a:outerShdw sx="100000" sy="100000" kx="0" ky="0" algn="bl" rotWithShape="0" blurRad="101600" dist="50800" dir="16200000">
              <a:srgbClr val="DBEAFE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0100" y="1448693"/>
            <a:ext cx="4955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1620143"/>
            <a:ext cx="4955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Berjalan</a:t>
            </a:r>
            <a:endParaRPr lang="en-US" sz="863" dirty="0"/>
          </a:p>
        </p:txBody>
      </p:sp>
      <p:sp>
        <p:nvSpPr>
          <p:cNvPr id="8" name="Shape 6"/>
          <p:cNvSpPr/>
          <p:nvPr/>
        </p:nvSpPr>
        <p:spPr>
          <a:xfrm>
            <a:off x="571500" y="1867793"/>
            <a:ext cx="2619375" cy="4075807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3275" y="2029718"/>
            <a:ext cx="2282825" cy="6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agent AI + RAG retrieval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FastEmbed 384-dim + Qdrant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interview STT→LLM→TTS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3381375" y="1534418"/>
            <a:ext cx="133350" cy="13335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50800" dir="16200000">
              <a:srgbClr val="E0E7FF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9975" y="1448693"/>
            <a:ext cx="6269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609975" y="1620143"/>
            <a:ext cx="6269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kuartal</a:t>
            </a:r>
            <a:endParaRPr lang="en-US" sz="863" dirty="0"/>
          </a:p>
        </p:txBody>
      </p:sp>
      <p:sp>
        <p:nvSpPr>
          <p:cNvPr id="13" name="Shape 11"/>
          <p:cNvSpPr/>
          <p:nvPr/>
        </p:nvSpPr>
        <p:spPr>
          <a:xfrm>
            <a:off x="3381375" y="1867793"/>
            <a:ext cx="2619375" cy="4075807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3150" y="2029718"/>
            <a:ext cx="2282825" cy="126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 scoring ATS domain-spesifik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diperkuat (re-ranking, konteks lebih kaya)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interview multi-dimensi (tone, konten)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91250" y="1534418"/>
            <a:ext cx="133350" cy="133350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101600" dist="50800" dir="16200000">
              <a:srgbClr val="E0F2FE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9850" y="1448693"/>
            <a:ext cx="6539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419850" y="1620143"/>
            <a:ext cx="6539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kuartal</a:t>
            </a:r>
            <a:endParaRPr lang="en-US" sz="863" dirty="0"/>
          </a:p>
        </p:txBody>
      </p:sp>
      <p:sp>
        <p:nvSpPr>
          <p:cNvPr id="18" name="Shape 16"/>
          <p:cNvSpPr/>
          <p:nvPr/>
        </p:nvSpPr>
        <p:spPr>
          <a:xfrm>
            <a:off x="6191250" y="1867793"/>
            <a:ext cx="2619375" cy="4075807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3025" y="2029718"/>
            <a:ext cx="2282825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auto-apply lowongan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video multimodal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Skill-gap roadmap + rekomendasi kursus AI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001125" y="1534418"/>
            <a:ext cx="133350" cy="13335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50800" dir="16200000">
              <a:srgbClr val="CCFBF1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29725" y="1448693"/>
            <a:ext cx="8989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229725" y="1620143"/>
            <a:ext cx="8989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Jangka panjang</a:t>
            </a:r>
            <a:endParaRPr lang="en-US" sz="863" dirty="0"/>
          </a:p>
        </p:txBody>
      </p:sp>
      <p:sp>
        <p:nvSpPr>
          <p:cNvPr id="23" name="Shape 21"/>
          <p:cNvSpPr/>
          <p:nvPr/>
        </p:nvSpPr>
        <p:spPr>
          <a:xfrm>
            <a:off x="9001125" y="1867793"/>
            <a:ext cx="2619375" cy="4075807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8EEF2"/>
            </a:solidFill>
            <a:prstDash val="solid"/>
          </a:ln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32900" y="2029718"/>
            <a:ext cx="2282825" cy="650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personal per pengguna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Analitik pasar kerja real-time</a:t>
            </a:r>
            <a:endParaRPr lang="en-US" sz="975" dirty="0"/>
          </a:p>
          <a:p>
            <a:pPr algn="l" marL="101600" indent="-101600">
              <a:lnSpc>
                <a:spcPct val="138387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copilot end-to-end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968508" y="6374606"/>
            <a:ext cx="177528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20 · Future AI Roadmap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70000">
                <a:srgbClr val="EEF4FE">
                  <a:alpha val="100000"/>
                </a:srgbClr>
              </a:gs>
              <a:gs pos="100000">
                <a:srgbClr val="E8F0FE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533400"/>
            <a:ext cx="1207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· NEXT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609600" y="781050"/>
            <a:ext cx="1207008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Pengembangan ke depan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609600" y="1467743"/>
            <a:ext cx="3555950" cy="13462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2804443"/>
            <a:ext cx="3555950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67743"/>
            <a:ext cx="3555950" cy="28575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9" name="Shape 7"/>
          <p:cNvSpPr/>
          <p:nvPr/>
        </p:nvSpPr>
        <p:spPr>
          <a:xfrm>
            <a:off x="4156025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0" name="Text 8"/>
          <p:cNvSpPr/>
          <p:nvPr/>
        </p:nvSpPr>
        <p:spPr>
          <a:xfrm>
            <a:off x="828675" y="1705868"/>
            <a:ext cx="342958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8525" y="1939230"/>
            <a:ext cx="3124150" cy="693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 CV ATS-friendly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Ekspor laporan PDF bilingual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Riwayat sesi tersimpan</a:t>
            </a:r>
            <a:endParaRPr lang="en-US" sz="1013" dirty="0"/>
          </a:p>
        </p:txBody>
      </p:sp>
      <p:sp>
        <p:nvSpPr>
          <p:cNvPr id="12" name="Shape 10"/>
          <p:cNvSpPr/>
          <p:nvPr/>
        </p:nvSpPr>
        <p:spPr>
          <a:xfrm>
            <a:off x="4317950" y="1467743"/>
            <a:ext cx="3556025" cy="13462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7950" y="2804443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7950" y="1467743"/>
            <a:ext cx="3556025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7950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4450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37025" y="1705868"/>
            <a:ext cx="342966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MID-TERM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6875" y="1939230"/>
            <a:ext cx="3124225" cy="693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Skill-gap roadmap + rekomendasi kursus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job board real-time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interview multi-dimensi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8026375" y="1467743"/>
            <a:ext cx="3556025" cy="13462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F172A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26375" y="2804443"/>
            <a:ext cx="3556025" cy="95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6375" y="1467743"/>
            <a:ext cx="3556025" cy="2857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Shape 20"/>
          <p:cNvSpPr/>
          <p:nvPr/>
        </p:nvSpPr>
        <p:spPr>
          <a:xfrm>
            <a:off x="8026375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72875" y="1467743"/>
            <a:ext cx="9525" cy="1346225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4" name="Text 22"/>
          <p:cNvSpPr/>
          <p:nvPr/>
        </p:nvSpPr>
        <p:spPr>
          <a:xfrm>
            <a:off x="8245450" y="1705868"/>
            <a:ext cx="342966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15300" y="1939230"/>
            <a:ext cx="3124225" cy="693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auto-apply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Personalisasi model per pengguna</a:t>
            </a:r>
            <a:endParaRPr lang="en-US" sz="1013" dirty="0"/>
          </a:p>
          <a:p>
            <a:pPr algn="l" marL="101600" indent="-101600">
              <a:lnSpc>
                <a:spcPct val="139091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Analitik pasar kerja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609600" y="5705475"/>
            <a:ext cx="472772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Terima kasih 🙏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09600" y="6138863"/>
            <a:ext cx="472772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Kelompok 1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Ivan Dwi Hascaryo Ardynugraha · Indri · Nabel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08183" y="59436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10070083" y="59436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0593958" y="6036469"/>
            <a:ext cx="106464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</a:t>
            </a:r>
            <a:pPr algn="l" indent="0" marL="0">
              <a:buNone/>
            </a:pPr>
            <a:r>
              <a:rPr lang="en-US" sz="1275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609600" y="6181725"/>
            <a:ext cx="10972800" cy="952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632460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" y="63246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42975" y="6374606"/>
            <a:ext cx="8320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JobMatch AI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0616357" y="6374606"/>
            <a:ext cx="104224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20 · Closing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2026-07-21T17:26:21Z</dcterms:created>
  <dcterms:modified xsi:type="dcterms:W3CDTF">2026-07-21T17:26:21Z</dcterms:modified>
</cp:coreProperties>
</file>